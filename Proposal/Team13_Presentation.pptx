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76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yu Dai" userId="267a87a667171872" providerId="LiveId" clId="{41143CFA-7675-4976-A6B5-7460D819AF2F}"/>
    <pc:docChg chg="undo custSel modSld">
      <pc:chgData name="Zhenyu Dai" userId="267a87a667171872" providerId="LiveId" clId="{41143CFA-7675-4976-A6B5-7460D819AF2F}" dt="2026-04-21T01:45:35.550" v="32" actId="1076"/>
      <pc:docMkLst>
        <pc:docMk/>
      </pc:docMkLst>
      <pc:sldChg chg="modSp mod">
        <pc:chgData name="Zhenyu Dai" userId="267a87a667171872" providerId="LiveId" clId="{41143CFA-7675-4976-A6B5-7460D819AF2F}" dt="2026-04-21T01:45:35.550" v="32" actId="1076"/>
        <pc:sldMkLst>
          <pc:docMk/>
          <pc:sldMk cId="0" sldId="261"/>
        </pc:sldMkLst>
        <pc:spChg chg="mod">
          <ac:chgData name="Zhenyu Dai" userId="267a87a667171872" providerId="LiveId" clId="{41143CFA-7675-4976-A6B5-7460D819AF2F}" dt="2026-04-21T01:45:35.550" v="32" actId="1076"/>
          <ac:spMkLst>
            <pc:docMk/>
            <pc:sldMk cId="0" sldId="261"/>
            <ac:spMk id="6" creationId="{00000000-0000-0000-0000-000000000000}"/>
          </ac:spMkLst>
        </pc:spChg>
        <pc:spChg chg="mod">
          <ac:chgData name="Zhenyu Dai" userId="267a87a667171872" providerId="LiveId" clId="{41143CFA-7675-4976-A6B5-7460D819AF2F}" dt="2026-04-21T01:45:35.550" v="32" actId="1076"/>
          <ac:spMkLst>
            <pc:docMk/>
            <pc:sldMk cId="0" sldId="261"/>
            <ac:spMk id="8" creationId="{00000000-0000-0000-0000-000000000000}"/>
          </ac:spMkLst>
        </pc:spChg>
        <pc:spChg chg="mod">
          <ac:chgData name="Zhenyu Dai" userId="267a87a667171872" providerId="LiveId" clId="{41143CFA-7675-4976-A6B5-7460D819AF2F}" dt="2026-04-21T01:45:35.550" v="32" actId="1076"/>
          <ac:spMkLst>
            <pc:docMk/>
            <pc:sldMk cId="0" sldId="261"/>
            <ac:spMk id="9" creationId="{00000000-0000-0000-0000-000000000000}"/>
          </ac:spMkLst>
        </pc:spChg>
        <pc:graphicFrameChg chg="mod modGraphic">
          <ac:chgData name="Zhenyu Dai" userId="267a87a667171872" providerId="LiveId" clId="{41143CFA-7675-4976-A6B5-7460D819AF2F}" dt="2026-04-21T01:45:30.572" v="31" actId="1076"/>
          <ac:graphicFrameMkLst>
            <pc:docMk/>
            <pc:sldMk cId="0" sldId="261"/>
            <ac:graphicFrameMk id="7" creationId="{00000000-0000-0000-0000-000000000000}"/>
          </ac:graphicFrameMkLst>
        </pc:graphicFrameChg>
      </pc:sldChg>
      <pc:sldChg chg="modSp mod">
        <pc:chgData name="Zhenyu Dai" userId="267a87a667171872" providerId="LiveId" clId="{41143CFA-7675-4976-A6B5-7460D819AF2F}" dt="2026-04-16T17:33:16.127" v="25" actId="1076"/>
        <pc:sldMkLst>
          <pc:docMk/>
          <pc:sldMk cId="0" sldId="262"/>
        </pc:sldMkLst>
        <pc:spChg chg="mod">
          <ac:chgData name="Zhenyu Dai" userId="267a87a667171872" providerId="LiveId" clId="{41143CFA-7675-4976-A6B5-7460D819AF2F}" dt="2026-04-14T19:03:02.332" v="24" actId="20577"/>
          <ac:spMkLst>
            <pc:docMk/>
            <pc:sldMk cId="0" sldId="262"/>
            <ac:spMk id="3" creationId="{00000000-0000-0000-0000-000000000000}"/>
          </ac:spMkLst>
        </pc:spChg>
        <pc:spChg chg="mod">
          <ac:chgData name="Zhenyu Dai" userId="267a87a667171872" providerId="LiveId" clId="{41143CFA-7675-4976-A6B5-7460D819AF2F}" dt="2026-04-16T17:33:16.127" v="25" actId="1076"/>
          <ac:spMkLst>
            <pc:docMk/>
            <pc:sldMk cId="0" sldId="262"/>
            <ac:spMk id="17" creationId="{00000000-0000-0000-0000-000000000000}"/>
          </ac:spMkLst>
        </pc:spChg>
      </pc:sldChg>
      <pc:sldChg chg="modSp mod">
        <pc:chgData name="Zhenyu Dai" userId="267a87a667171872" providerId="LiveId" clId="{41143CFA-7675-4976-A6B5-7460D819AF2F}" dt="2026-04-16T18:08:18.403" v="27" actId="14734"/>
        <pc:sldMkLst>
          <pc:docMk/>
          <pc:sldMk cId="0" sldId="263"/>
        </pc:sldMkLst>
        <pc:graphicFrameChg chg="mod modGraphic">
          <ac:chgData name="Zhenyu Dai" userId="267a87a667171872" providerId="LiveId" clId="{41143CFA-7675-4976-A6B5-7460D819AF2F}" dt="2026-04-16T18:08:18.403" v="27" actId="14734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613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65760"/>
            <a:ext cx="8595360" cy="5029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8595360" cy="5029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554480"/>
            <a:ext cx="8595360" cy="5029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148840"/>
            <a:ext cx="8595360" cy="5029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743200"/>
            <a:ext cx="8595360" cy="5029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3337560"/>
            <a:ext cx="8595360" cy="5029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931920"/>
            <a:ext cx="8595360" cy="5029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526280"/>
            <a:ext cx="8595360" cy="502920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2573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Power of Parallel Computing</a:t>
            </a:r>
          </a:p>
          <a:p>
            <a:r>
              <a:rPr lang="en-US" sz="3800" b="1" dirty="0">
                <a:solidFill>
                  <a:srgbClr val="FFFFFF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in Thoracic Disease Classification</a:t>
            </a:r>
          </a:p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48640" y="1691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5943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Using NIH ChestX-ray14 Dataset  |  DenseNet-121  |  112,120 Images  |  ~45 GB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Team 13: Daxiao Han &amp; Zhenyu Dai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CSYE 7105 — High Performance Parallel Machine Learning &amp; AI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4E"/>
          </a:solidFill>
          <a:ln w="12700">
            <a:solidFill>
              <a:srgbClr val="1B2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1795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1179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527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goals, clinical relevance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574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0939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0939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Methodology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441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ChestX-ray14, DenseNet-121, 4 strategies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718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083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3008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Multiprocessing Results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3558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16-core preprocessing: 12.90× speedup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8862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862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9227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" y="39227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 Optimization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2702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parallelism: 4.33× throughput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1430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1430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11795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68112" y="11795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Mixed-Precision Training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68112" y="15270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Cores: 1.13× speed + 44.3% memory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20574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20574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20939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68112" y="20939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Multi-GPU DDP &amp; FSDP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68112" y="24414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P100 cluster: near-linear strong scaling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2971800"/>
            <a:ext cx="4114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29718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300837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68112" y="300837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68112" y="33558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gains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4E"/>
          </a:solidFill>
          <a:ln w="12700">
            <a:solidFill>
              <a:srgbClr val="1B2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3891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Context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is the most widely used medical imaging modality. Automated deep learning classification (CNN) can reach radiologist-level performance.</a:t>
            </a:r>
            <a:endParaRPr lang="en-US" sz="16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B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Bottlenecks</a:t>
            </a:r>
            <a:endParaRPr lang="en-US" sz="16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Preprocessing 112K images → 20–40 min on 1 CPU core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DenseNet-121 → several hours on 1 GPU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1051560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0" y="105156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66360" y="110642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Multiprocessing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66360" y="14538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preprocessing across 16 cores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2011680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201168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0665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 Tuning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6360" y="24140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 CPU data prep with GPU compute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2971800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297180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02666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Mixed-Precision (FP16)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66360" y="33741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memory, boost Tensor Core throughput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931920"/>
            <a:ext cx="37490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393192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9867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Multi-GPU DDP/FSDP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43342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training to 2 &amp; 4 P100 GPUs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4E"/>
          </a:solidFill>
          <a:ln w="12700">
            <a:solidFill>
              <a:srgbClr val="1B2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Model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ChestX-ray14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81328"/>
          <a:ext cx="411480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Total Images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112,120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Unique Patients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30,805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Resolution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1024×1024 (PNG)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Disease Labels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14 (multi-label)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Dataset Size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~45 GB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Train / Val / Test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69K / 17K / 26K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Input Size (resized)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224×224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05156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846320" y="1481328"/>
            <a:ext cx="3931920" cy="402336"/>
          </a:xfrm>
          <a:prstGeom prst="rect">
            <a:avLst/>
          </a:prstGeom>
          <a:solidFill>
            <a:srgbClr val="EBF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536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92240" y="1536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7,485,838 trainable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938528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993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1993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weights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2395728"/>
            <a:ext cx="3931920" cy="402336"/>
          </a:xfrm>
          <a:prstGeom prst="rect">
            <a:avLst/>
          </a:prstGeom>
          <a:solidFill>
            <a:srgbClr val="EBF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2450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92240" y="2450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14-output sigmoid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46320" y="2852928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2907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92240" y="2907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46320" y="3310128"/>
            <a:ext cx="3931920" cy="402336"/>
          </a:xfrm>
          <a:prstGeom prst="rect">
            <a:avLst/>
          </a:prstGeom>
          <a:solidFill>
            <a:srgbClr val="EBF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9224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(lr=1e-4)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46320" y="3767328"/>
            <a:ext cx="39319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3822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922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per GPU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0" y="4224528"/>
            <a:ext cx="3931920" cy="402336"/>
          </a:xfrm>
          <a:prstGeom prst="rect">
            <a:avLst/>
          </a:prstGeom>
          <a:solidFill>
            <a:srgbClr val="EBF5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4279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492240" y="42793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per disease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4E"/>
          </a:solidFill>
          <a:ln w="12700">
            <a:solidFill>
              <a:srgbClr val="1B2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CPU Multiprocessing — Preprocessing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1005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F4E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Speedup Results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89888"/>
          <a:ext cx="3108960" cy="24688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 (s)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Efficiency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 Core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136.8s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 Cores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56.9s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120%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 Cores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29.1s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118%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 Cores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19.3s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89%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16 Cores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10.6s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3977640"/>
            <a:ext cx="310896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60720" y="3977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gradFill>
                  <a:gsLst>
                    <a:gs pos="0">
                      <a:srgbClr val="FFFFFF"/>
                    </a:gs>
                    <a:gs pos="100000">
                      <a:srgbClr val="FDE68A"/>
                    </a:gs>
                  </a:gsLst>
                  <a:lin ang="5400000" scaled="0"/>
                </a:gra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12.90×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5760720" y="44622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Max Speedup at 16 Cores (80.6% efficiency)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4E"/>
          </a:solidFill>
          <a:ln w="12700">
            <a:solidFill>
              <a:srgbClr val="1B2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DataLoader Multi-Worker Optimization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1005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F4E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Pipeline Parallelism Detail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55477"/>
              </p:ext>
            </p:extLst>
          </p:nvPr>
        </p:nvGraphicFramePr>
        <p:xfrm>
          <a:off x="5760720" y="1444752"/>
          <a:ext cx="3108960" cy="2057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Workers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Throughput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 worker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41.0 img/s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1.89×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 workers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56.9 img/s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2.63×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 workers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93.8 img/s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4.3×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 workers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151.9 img/s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7.02×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3846261"/>
            <a:ext cx="310896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60720" y="3846261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gradFill>
                  <a:gsLst>
                    <a:gs pos="0">
                      <a:srgbClr val="FFFFFF"/>
                    </a:gs>
                    <a:gs pos="100000">
                      <a:srgbClr val="FDE68A"/>
                    </a:gs>
                  </a:gsLst>
                  <a:lin ang="5400000" scaled="0"/>
                </a:gra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4.33×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5760720" y="4330893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Best at num_workers=4 (balance); 8 workers=7.02× but diminishing returns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4E"/>
          </a:solidFill>
          <a:ln w="12700">
            <a:solidFill>
              <a:srgbClr val="1B2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FP32 vs </a:t>
            </a: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FP16 Mixed-Precision Training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5303520" cy="3566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1005840"/>
            <a:ext cx="29260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2160" y="104241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gradFill>
                  <a:gsLst>
                    <a:gs pos="0">
                      <a:srgbClr val="FFFFFF"/>
                    </a:gs>
                    <a:gs pos="100000">
                      <a:srgbClr val="FDE68A"/>
                    </a:gs>
                  </a:gsLst>
                  <a:lin ang="5400000" scaled="0"/>
                </a:gra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1.13×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852160" y="14813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Training Speedup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52160" y="2011680"/>
            <a:ext cx="2926080" cy="822960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0" y="204825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gradFill>
                  <a:gsLst>
                    <a:gs pos="0">
                      <a:srgbClr val="FFFFFF"/>
                    </a:gs>
                    <a:gs pos="100000">
                      <a:srgbClr val="FDE68A"/>
                    </a:gs>
                  </a:gsLst>
                  <a:lin ang="5400000" scaled="0"/>
                </a:gra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44.3%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852160" y="248716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GPU Memory Reduction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52160" y="3017520"/>
            <a:ext cx="292608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52160" y="305409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gradFill>
                  <a:gsLst>
                    <a:gs pos="0">
                      <a:srgbClr val="FFFFFF"/>
                    </a:gs>
                    <a:gs pos="100000">
                      <a:srgbClr val="FDE68A"/>
                    </a:gs>
                  </a:gsLst>
                  <a:lin ang="5400000" scaled="0"/>
                </a:gra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0.8062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852160" y="34930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FP16 Test AUC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52160" y="4023360"/>
            <a:ext cx="2926080" cy="822960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52160" y="4059936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gradFill>
                  <a:gsLst>
                    <a:gs pos="0">
                      <a:srgbClr val="FFFFFF"/>
                    </a:gs>
                    <a:gs pos="100000">
                      <a:srgbClr val="FDE68A"/>
                    </a:gs>
                  </a:gsLst>
                  <a:lin ang="5400000" scaled="0"/>
                </a:gra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0.8059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852160" y="44988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FP32 Test AUC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47640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Accuracy preserved: FP16 AUC ≈ FP32 AUC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4E"/>
          </a:solidFill>
          <a:ln w="12700">
            <a:solidFill>
              <a:srgbClr val="1B2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Multi-GPU Training: DDP &amp; FSDP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05840"/>
            <a:ext cx="8595360" cy="301752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72791"/>
              </p:ext>
            </p:extLst>
          </p:nvPr>
        </p:nvGraphicFramePr>
        <p:xfrm>
          <a:off x="562303" y="4151849"/>
          <a:ext cx="7671501" cy="1600200"/>
        </p:xfrm>
        <a:graphic>
          <a:graphicData uri="http://schemas.openxmlformats.org/drawingml/2006/table">
            <a:tbl>
              <a:tblPr/>
              <a:tblGrid>
                <a:gridCol w="2550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Config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Epoch Time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Throughput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GPU Mem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Single GPU (A100) FP32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327.6s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215 img/s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4.33 GB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0.8059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Single GPU (A100) FP16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289.6s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239 img/s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2.41 GB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0.8062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DDP 2-GPU (P100) FP32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1135s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61 img/s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4.36 GB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0.8029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DDP 4-GPU (P100) FP32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603.5s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115 img/s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4.36 GB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0.7966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FSDP 2-GPU (P100) FP32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601s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115 img/s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4.30 GB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0.8068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06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FSDP 4-GPU (P100) FP32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637s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109 img/s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4.27 GB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0.7969</a:t>
                      </a:r>
                      <a:endParaRPr lang="en-US" sz="900" dirty="0"/>
                    </a:p>
                  </a:txBody>
                  <a:tcPr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F4E"/>
          </a:solidFill>
          <a:ln w="12700">
            <a:solidFill>
              <a:srgbClr val="1B2F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Overall Parallel Performance Summary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Optimization Strategy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Optimized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CPU Preprocessing (1→16 cores)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136.84s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10.60s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</a:rPr>
                        <a:t>12.90× speedup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DataLoader (0→4 workers)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21.65 img/s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93.83 img/s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</a:rPr>
                        <a:t>4.33× throughput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Training Precision (FP32→FP16)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327.6s/epoch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289.6s/epoch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</a:rPr>
                        <a:t>1.13× speedup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GPU Memory (FP32→FP16)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4.33 GB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2.41 GB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</a:rPr>
                        <a:t>44.3% reduction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DDP Strong Scaling (2→4 GPUs)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61 img/s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115 img/s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65F46"/>
                          </a:solidFill>
                        </a:rPr>
                        <a:t>1.89× (94% eff.)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242816"/>
            <a:ext cx="1417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950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12.9×</a:t>
            </a:r>
          </a:p>
        </p:txBody>
      </p:sp>
      <p:sp>
        <p:nvSpPr>
          <p:cNvPr id="7" name="Text 4"/>
          <p:cNvSpPr/>
          <p:nvPr/>
        </p:nvSpPr>
        <p:spPr>
          <a:xfrm>
            <a:off x="457200" y="45994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788920" y="4473656"/>
            <a:ext cx="1417320" cy="116632"/>
          </a:xfrm>
          <a:prstGeom prst="rect">
            <a:avLst/>
          </a:prstGeom>
          <a:solidFill>
            <a:srgbClr val="0D6B5E"/>
          </a:solidFill>
          <a:ln w="12700">
            <a:solidFill>
              <a:srgbClr val="0D6B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88920" y="41810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14B8A6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4.33×</a:t>
            </a:r>
          </a:p>
        </p:txBody>
      </p:sp>
      <p:sp>
        <p:nvSpPr>
          <p:cNvPr id="4" name="Text 7"/>
          <p:cNvSpPr/>
          <p:nvPr/>
        </p:nvSpPr>
        <p:spPr>
          <a:xfrm>
            <a:off x="2606040" y="45994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37760" y="4559851"/>
            <a:ext cx="1417320" cy="30437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4267243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B8A6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1.13×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54880" y="45994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FP16 Speed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086600" y="4539379"/>
            <a:ext cx="1417320" cy="50909"/>
          </a:xfrm>
          <a:prstGeom prst="rect">
            <a:avLst/>
          </a:prstGeom>
          <a:solidFill>
            <a:srgbClr val="1D9183"/>
          </a:solidFill>
          <a:ln w="12700">
            <a:solidFill>
              <a:srgbClr val="1D918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86600" y="4246771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183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1.89×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903720" y="459943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entury Gothic" pitchFamily="34" charset="0"/>
                <a:ea typeface="Calibri" pitchFamily="34" charset="-122"/>
                <a:cs typeface="Calibri" pitchFamily="34" charset="-120"/>
              </a:rPr>
              <a:t>DDP 2→4GPU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5943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91266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9126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0955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multiprocessing → 12.90× speedup (1.9% serial fraction → near-ideal Amdahl scaling)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13058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2130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231346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 4 workers → 4.33× throughput via pipeline parallelism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850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3485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85313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AMP → 1.13× speed + 44.3% GPU memory reduction, accuracy preserved (AUC 0.8062 ≈ 0.8059)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642"/>
            <a:ext cx="384048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5664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47493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 2→4 GPU → 1.89× speedup (94% efficiency), near-linear strong scaling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848</TotalTime>
  <Words>710</Words>
  <Application>Microsoft Office PowerPoint</Application>
  <PresentationFormat>全屏显示(16:9)</PresentationFormat>
  <Paragraphs>216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Calibri</vt:lpstr>
      <vt:lpstr>Century 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of Parallel Computing in Thoracic Disease Classification</dc:title>
  <dc:subject>PptxGenJS Presentation</dc:subject>
  <dc:creator>PptxGenJS</dc:creator>
  <cp:lastModifiedBy>Zhenyu Dai</cp:lastModifiedBy>
  <cp:revision>3</cp:revision>
  <dcterms:created xsi:type="dcterms:W3CDTF">2026-04-13T15:53:18Z</dcterms:created>
  <dcterms:modified xsi:type="dcterms:W3CDTF">2026-04-21T01:45:37Z</dcterms:modified>
</cp:coreProperties>
</file>